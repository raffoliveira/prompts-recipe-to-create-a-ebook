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7"/>
  </p:notesMasterIdLst>
  <p:handoutMasterIdLst>
    <p:handoutMasterId r:id="rId28"/>
  </p:handoutMasterIdLst>
  <p:sldIdLst>
    <p:sldId id="260" r:id="rId4"/>
    <p:sldId id="261" r:id="rId5"/>
    <p:sldId id="262" r:id="rId6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6858000" cy="990346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EB47"/>
    <a:srgbClr val="9EEF4B"/>
    <a:srgbClr val="183543"/>
    <a:srgbClr val="081520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3119"/>
        <p:guide pos="21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2356781" y="1279525"/>
            <a:ext cx="239208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62" y="1910482"/>
            <a:ext cx="5143573" cy="3158236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62" y="5201683"/>
            <a:ext cx="5143573" cy="239107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6" y="373219"/>
            <a:ext cx="5915109" cy="1914238"/>
          </a:xfrm>
        </p:spPr>
        <p:txBody>
          <a:bodyPr anchor="ctr" anchorCtr="0">
            <a:normAutofit/>
          </a:bodyPr>
          <a:lstStyle>
            <a:lvl1pPr>
              <a:defRPr sz="33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336" y="2636375"/>
            <a:ext cx="5915109" cy="6283743"/>
          </a:xfrm>
        </p:spPr>
        <p:txBody>
          <a:bodyPr>
            <a:normAutofit/>
          </a:bodyPr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2" y="5416719"/>
            <a:ext cx="5536842" cy="1171926"/>
          </a:xfrm>
        </p:spPr>
        <p:txBody>
          <a:bodyPr anchor="b">
            <a:noAutofit/>
          </a:bodyPr>
          <a:lstStyle>
            <a:lvl1pPr>
              <a:defRPr sz="45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2" y="6657316"/>
            <a:ext cx="4118430" cy="93513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6" y="373219"/>
            <a:ext cx="5915109" cy="1914238"/>
          </a:xfrm>
        </p:spPr>
        <p:txBody>
          <a:bodyPr>
            <a:normAutofit/>
          </a:bodyPr>
          <a:lstStyle>
            <a:lvl1pPr>
              <a:defRPr sz="33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336" y="2636375"/>
            <a:ext cx="2914691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4754" y="2636375"/>
            <a:ext cx="2914691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1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7" y="527275"/>
            <a:ext cx="5915109" cy="1914238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7" y="2519889"/>
            <a:ext cx="2901296" cy="1189807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7" y="3777187"/>
            <a:ext cx="2901296" cy="51612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912" y="2519889"/>
            <a:ext cx="2915585" cy="1189807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912" y="3777187"/>
            <a:ext cx="2915585" cy="5161272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94" y="3994682"/>
            <a:ext cx="5915109" cy="1914238"/>
          </a:xfrm>
        </p:spPr>
        <p:txBody>
          <a:bodyPr>
            <a:normAutofit/>
          </a:bodyPr>
          <a:lstStyle>
            <a:lvl1pPr algn="ctr">
              <a:defRPr sz="33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800" y="183400"/>
            <a:ext cx="2342958" cy="2310840"/>
          </a:xfrm>
        </p:spPr>
        <p:txBody>
          <a:bodyPr anchor="ctr" anchorCtr="0">
            <a:normAutofit/>
          </a:bodyPr>
          <a:lstStyle>
            <a:lvl1pPr>
              <a:defRPr sz="2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6041" y="1106688"/>
            <a:ext cx="3272320" cy="7356861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658" y="2971080"/>
            <a:ext cx="2342958" cy="550429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HeisenCode: A Química do Python Perfeito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6350" y="527275"/>
            <a:ext cx="860252" cy="8392843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94" y="527275"/>
            <a:ext cx="4995047" cy="83928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71494" y="796480"/>
            <a:ext cx="5915109" cy="8027679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62" y="1910482"/>
            <a:ext cx="5143573" cy="3158236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62" y="5201683"/>
            <a:ext cx="5143573" cy="239107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6" y="373219"/>
            <a:ext cx="5915109" cy="1914238"/>
          </a:xfrm>
        </p:spPr>
        <p:txBody>
          <a:bodyPr anchor="ctr" anchorCtr="0">
            <a:normAutofit/>
          </a:bodyPr>
          <a:lstStyle>
            <a:lvl1pPr>
              <a:defRPr sz="33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336" y="2636375"/>
            <a:ext cx="5915109" cy="6283743"/>
          </a:xfrm>
        </p:spPr>
        <p:txBody>
          <a:bodyPr>
            <a:normAutofit/>
          </a:bodyPr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2" y="5416719"/>
            <a:ext cx="5536842" cy="1171926"/>
          </a:xfrm>
        </p:spPr>
        <p:txBody>
          <a:bodyPr anchor="b">
            <a:noAutofit/>
          </a:bodyPr>
          <a:lstStyle>
            <a:lvl1pPr>
              <a:defRPr sz="45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2" y="6657316"/>
            <a:ext cx="4118430" cy="93513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6" y="373219"/>
            <a:ext cx="5915109" cy="1914238"/>
          </a:xfrm>
        </p:spPr>
        <p:txBody>
          <a:bodyPr>
            <a:normAutofit/>
          </a:bodyPr>
          <a:lstStyle>
            <a:lvl1pPr>
              <a:defRPr sz="33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336" y="2636375"/>
            <a:ext cx="2914691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4754" y="2636375"/>
            <a:ext cx="2914691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1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7" y="527275"/>
            <a:ext cx="5915109" cy="1914238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7" y="2519889"/>
            <a:ext cx="2901296" cy="1189807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7" y="3777187"/>
            <a:ext cx="2901296" cy="51612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912" y="2519889"/>
            <a:ext cx="2915585" cy="1189807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912" y="3777187"/>
            <a:ext cx="2915585" cy="5161272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94" y="3994682"/>
            <a:ext cx="5915109" cy="1914238"/>
          </a:xfrm>
        </p:spPr>
        <p:txBody>
          <a:bodyPr>
            <a:normAutofit/>
          </a:bodyPr>
          <a:lstStyle>
            <a:lvl1pPr algn="ctr">
              <a:defRPr sz="33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800" y="183400"/>
            <a:ext cx="2342958" cy="2310840"/>
          </a:xfrm>
        </p:spPr>
        <p:txBody>
          <a:bodyPr anchor="ctr" anchorCtr="0">
            <a:normAutofit/>
          </a:bodyPr>
          <a:lstStyle>
            <a:lvl1pPr>
              <a:defRPr sz="2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6041" y="1106688"/>
            <a:ext cx="3272320" cy="7356861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658" y="2971080"/>
            <a:ext cx="2342958" cy="550429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HeisenCode: A Química do Python Perfeito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6350" y="527275"/>
            <a:ext cx="860252" cy="8392843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94" y="527275"/>
            <a:ext cx="4995047" cy="83928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71494" y="796480"/>
            <a:ext cx="5915109" cy="8027679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4" y="527275"/>
            <a:ext cx="5915109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4" y="2636375"/>
            <a:ext cx="5915109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94" y="9179170"/>
            <a:ext cx="1543072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45" y="9179170"/>
            <a:ext cx="2314608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531" y="9179170"/>
            <a:ext cx="1543072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685800" rtl="0" eaLnBrk="1" fontAlgn="auto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 typeface="Arial" panose="020B0604020202020204" pitchFamily="34" charset="0"/>
        <a:buNone/>
        <a:defRPr sz="21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4" y="527275"/>
            <a:ext cx="5915109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4" y="2636375"/>
            <a:ext cx="5915109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94" y="9179170"/>
            <a:ext cx="1543072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45" y="9179170"/>
            <a:ext cx="2314608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531" y="9179170"/>
            <a:ext cx="1543072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685800" rtl="0" eaLnBrk="1" fontAlgn="auto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 typeface="Arial" panose="020B0604020202020204" pitchFamily="34" charset="0"/>
        <a:buNone/>
        <a:defRPr sz="21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 descr="capa"/>
          <p:cNvPicPr>
            <a:picLocks noChangeAspect="1"/>
          </p:cNvPicPr>
          <p:nvPr/>
        </p:nvPicPr>
        <p:blipFill>
          <a:blip r:embed="rId1"/>
          <a:srcRect l="16806" r="15376"/>
          <a:stretch>
            <a:fillRect/>
          </a:stretch>
        </p:blipFill>
        <p:spPr>
          <a:xfrm>
            <a:off x="0" y="0"/>
            <a:ext cx="6858000" cy="9903460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Vari</a:t>
            </a:r>
            <a:r>
              <a:rPr lang="en-US" altLang="en-US" sz="4400">
                <a:solidFill>
                  <a:schemeClr val="bg1"/>
                </a:solidFill>
                <a:effectLst/>
              </a:rPr>
              <a:t>á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veis e Tipos: A Base de Tudo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01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Variáveis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9105" y="246126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Armazenam dados que seu programa vai usar.</a:t>
            </a:r>
            <a:endParaRPr lang="en-US" altLang="pt-BR" sz="2400" b="0"/>
          </a:p>
          <a:p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637921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cadastro de usu</a:t>
            </a:r>
            <a:r>
              <a:rPr lang="en-US" altLang="en-US" sz="2400" b="0"/>
              <a:t>á</a:t>
            </a:r>
            <a:r>
              <a:rPr lang="en-US" altLang="pt-BR" sz="2400" b="0"/>
              <a:t>rio, dados de sistema, configs.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" y="3529965"/>
            <a:ext cx="6090920" cy="2415540"/>
          </a:xfrm>
          <a:prstGeom prst="round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Condicionais: Tomando Decis</a:t>
            </a:r>
            <a:r>
              <a:rPr lang="" altLang="en-US" sz="4400">
                <a:solidFill>
                  <a:schemeClr val="bg1"/>
                </a:solidFill>
                <a:effectLst/>
              </a:rPr>
              <a:t>õ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es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02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Condicionais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Permitem que o c</a:t>
            </a:r>
            <a:r>
              <a:rPr lang="en-US" altLang="en-US" sz="2400" b="0"/>
              <a:t>ó</a:t>
            </a:r>
            <a:r>
              <a:rPr lang="en-US" altLang="pt-BR" sz="2400" b="0"/>
              <a:t>digo reaja a situa</a:t>
            </a:r>
            <a:r>
              <a:rPr lang="" altLang="en-US" sz="2400" b="0"/>
              <a:t>çõ</a:t>
            </a:r>
            <a:r>
              <a:rPr lang="en-US" altLang="pt-BR" sz="2400" b="0"/>
              <a:t>es.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regras de neg</a:t>
            </a:r>
            <a:r>
              <a:rPr lang="en-US" altLang="en-US" sz="2400" b="0"/>
              <a:t>ó</a:t>
            </a:r>
            <a:r>
              <a:rPr lang="en-US" altLang="pt-BR" sz="2400" b="0"/>
              <a:t>cio, valida</a:t>
            </a:r>
            <a:r>
              <a:rPr lang="" altLang="en-US" sz="2400" b="0"/>
              <a:t>çõ</a:t>
            </a:r>
            <a:r>
              <a:rPr lang="en-US" altLang="pt-BR" sz="2400" b="0"/>
              <a:t>es, permiss</a:t>
            </a:r>
            <a:r>
              <a:rPr lang="" altLang="en-US" sz="2400" b="0"/>
              <a:t>õ</a:t>
            </a:r>
            <a:r>
              <a:rPr lang="en-US" altLang="pt-BR" sz="2400" b="0"/>
              <a:t>es.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815590"/>
            <a:ext cx="5019040" cy="3661410"/>
          </a:xfrm>
          <a:prstGeom prst="round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Loops: Automatizando Repeti</a:t>
            </a:r>
            <a:r>
              <a:rPr lang="" altLang="en-US" sz="4400">
                <a:solidFill>
                  <a:schemeClr val="bg1"/>
                </a:solidFill>
                <a:effectLst/>
              </a:rPr>
              <a:t>çõ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es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03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Loops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Executam a</a:t>
            </a:r>
            <a:r>
              <a:rPr lang="" altLang="en-US" sz="2400" b="0"/>
              <a:t>çõ</a:t>
            </a:r>
            <a:r>
              <a:rPr lang="en-US" altLang="pt-BR" sz="2400" b="0"/>
              <a:t>es v</a:t>
            </a:r>
            <a:r>
              <a:rPr lang="en-US" altLang="en-US" sz="2400" b="0"/>
              <a:t>á</a:t>
            </a:r>
            <a:r>
              <a:rPr lang="en-US" altLang="pt-BR" sz="2400" b="0"/>
              <a:t>rias vezes.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processamento de listas, automa</a:t>
            </a:r>
            <a:r>
              <a:rPr lang="" altLang="en-US" sz="2400" b="0"/>
              <a:t>çõ</a:t>
            </a:r>
            <a:r>
              <a:rPr lang="en-US" altLang="pt-BR" sz="2400" b="0"/>
              <a:t>es, leitura cont</a:t>
            </a:r>
            <a:r>
              <a:rPr lang="en-US" altLang="en-US" sz="2400" b="0"/>
              <a:t>í</a:t>
            </a:r>
            <a:r>
              <a:rPr lang="en-US" altLang="pt-BR" sz="2400" b="0"/>
              <a:t>nua.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" y="3529330"/>
            <a:ext cx="6302375" cy="2618740"/>
          </a:xfrm>
          <a:prstGeom prst="round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Listas: Trabalhando com Cole</a:t>
            </a:r>
            <a:r>
              <a:rPr lang="" altLang="en-US" sz="4400">
                <a:solidFill>
                  <a:schemeClr val="bg1"/>
                </a:solidFill>
                <a:effectLst/>
              </a:rPr>
              <a:t>çõ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es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04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Listas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Armazenam m</a:t>
            </a:r>
            <a:r>
              <a:rPr lang="en-US" altLang="en-US" sz="2400" b="0"/>
              <a:t>ú</a:t>
            </a:r>
            <a:r>
              <a:rPr lang="en-US" altLang="pt-BR" sz="2400" b="0"/>
              <a:t>ltiplos valores.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listas de usu</a:t>
            </a:r>
            <a:r>
              <a:rPr lang="en-US" altLang="en-US" sz="2400" b="0"/>
              <a:t>á</a:t>
            </a:r>
            <a:r>
              <a:rPr lang="en-US" altLang="pt-BR" sz="2400" b="0"/>
              <a:t>rios, produtos, dados de API.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" y="3757930"/>
            <a:ext cx="6315710" cy="2122805"/>
          </a:xfrm>
          <a:prstGeom prst="round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Dicion</a:t>
            </a:r>
            <a:r>
              <a:rPr lang="en-US" altLang="en-US" sz="4400">
                <a:solidFill>
                  <a:schemeClr val="bg1"/>
                </a:solidFill>
                <a:effectLst/>
              </a:rPr>
              <a:t>á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rios: Dados Estruturados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05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Dicionários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Armazenam dados com chave e valor.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JSON, APIs, bancos de dados.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3434080"/>
            <a:ext cx="6294755" cy="3200400"/>
          </a:xfrm>
          <a:prstGeom prst="round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Fun</a:t>
            </a:r>
            <a:r>
              <a:rPr lang="" altLang="en-US" sz="4400">
                <a:solidFill>
                  <a:schemeClr val="bg1"/>
                </a:solidFill>
                <a:effectLst/>
              </a:rPr>
              <a:t>çõ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es: Reutilizando C</a:t>
            </a:r>
            <a:r>
              <a:rPr lang="en-US" altLang="en-US" sz="4400">
                <a:solidFill>
                  <a:schemeClr val="bg1"/>
                </a:solidFill>
                <a:effectLst/>
              </a:rPr>
              <a:t>ó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digo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06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Funções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Organizam e evitam repeti</a:t>
            </a:r>
            <a:r>
              <a:rPr lang="" altLang="en-US" sz="2400" b="0"/>
              <a:t>ç</a:t>
            </a:r>
            <a:r>
              <a:rPr lang="en-US" altLang="en-US" sz="2400" b="0"/>
              <a:t>ã</a:t>
            </a:r>
            <a:r>
              <a:rPr lang="en-US" altLang="pt-BR" sz="2400" b="0"/>
              <a:t>o.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regras reutiliz</a:t>
            </a:r>
            <a:r>
              <a:rPr lang="en-US" altLang="en-US" sz="2400" b="0"/>
              <a:t>á</a:t>
            </a:r>
            <a:r>
              <a:rPr lang="en-US" altLang="pt-BR" sz="2400" b="0"/>
              <a:t>veis, c</a:t>
            </a:r>
            <a:r>
              <a:rPr lang="en-US" altLang="en-US" sz="2400" b="0"/>
              <a:t>á</a:t>
            </a:r>
            <a:r>
              <a:rPr lang="en-US" altLang="pt-BR" sz="2400" b="0"/>
              <a:t>lculos, l</a:t>
            </a:r>
            <a:r>
              <a:rPr lang="en-US" altLang="en-US" sz="2400" b="0"/>
              <a:t>ó</a:t>
            </a:r>
            <a:r>
              <a:rPr lang="en-US" altLang="pt-BR" sz="2400" b="0"/>
              <a:t>gica modular.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" y="3778885"/>
            <a:ext cx="6439535" cy="2508250"/>
          </a:xfrm>
          <a:prstGeom prst="round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Tratamento de Erros: Evitando Falhas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07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Tratamento de erros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Previne que o sistema quebre.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entrada de usu</a:t>
            </a:r>
            <a:r>
              <a:rPr lang="en-US" altLang="en-US" sz="2400" b="0"/>
              <a:t>á</a:t>
            </a:r>
            <a:r>
              <a:rPr lang="en-US" altLang="pt-BR" sz="2400" b="0"/>
              <a:t>rio, APIs inst</a:t>
            </a:r>
            <a:r>
              <a:rPr lang="en-US" altLang="en-US" sz="2400" b="0"/>
              <a:t>á</a:t>
            </a:r>
            <a:r>
              <a:rPr lang="en-US" altLang="pt-BR" sz="2400" b="0"/>
              <a:t>veis, arquivos.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938905"/>
            <a:ext cx="6238240" cy="2247900"/>
          </a:xfrm>
          <a:prstGeom prst="round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Manipula</a:t>
            </a:r>
            <a:r>
              <a:rPr lang="" altLang="en-US" sz="4400">
                <a:solidFill>
                  <a:schemeClr val="bg1"/>
                </a:solidFill>
                <a:effectLst/>
              </a:rPr>
              <a:t>ç</a:t>
            </a:r>
            <a:r>
              <a:rPr lang="en-US" altLang="en-US" sz="4400">
                <a:solidFill>
                  <a:schemeClr val="bg1"/>
                </a:solidFill>
                <a:effectLst/>
              </a:rPr>
              <a:t>ã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o de Arquivos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08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Manipulação de arquivos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Ler e escrever dados.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logs, relat</a:t>
            </a:r>
            <a:r>
              <a:rPr lang="en-US" altLang="en-US" sz="2400" b="0"/>
              <a:t>ó</a:t>
            </a:r>
            <a:r>
              <a:rPr lang="en-US" altLang="pt-BR" sz="2400" b="0"/>
              <a:t>rios, armazenamento simples.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" y="3841115"/>
            <a:ext cx="6198235" cy="2484755"/>
          </a:xfrm>
          <a:prstGeom prst="round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4400">
                <a:solidFill>
                  <a:schemeClr val="bg1"/>
                </a:solidFill>
                <a:effectLst/>
              </a:rPr>
              <a:t>Consumindo APIs (Mundo Real)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09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Consumo de APIs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Python brilha aqui.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integra</a:t>
            </a:r>
            <a:r>
              <a:rPr lang="" altLang="en-US" sz="2400" b="0"/>
              <a:t>ç</a:t>
            </a:r>
            <a:r>
              <a:rPr lang="en-US" altLang="en-US" sz="2400" b="0"/>
              <a:t>ã</a:t>
            </a:r>
            <a:r>
              <a:rPr lang="en-US" altLang="pt-BR" sz="2400" b="0"/>
              <a:t>o com sistemas, dados externos.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4110355"/>
            <a:ext cx="6401435" cy="1812290"/>
          </a:xfrm>
          <a:prstGeom prst="round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sz="4400">
                <a:solidFill>
                  <a:schemeClr val="bg1"/>
                </a:solidFill>
                <a:effectLst/>
              </a:rPr>
              <a:t>A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utoma</a:t>
            </a:r>
            <a:r>
              <a:rPr lang="" altLang="en-US" sz="4400">
                <a:solidFill>
                  <a:schemeClr val="bg1"/>
                </a:solidFill>
                <a:effectLst/>
              </a:rPr>
              <a:t>ç</a:t>
            </a:r>
            <a:r>
              <a:rPr lang="en-US" altLang="en-US" sz="4400">
                <a:solidFill>
                  <a:schemeClr val="bg1"/>
                </a:solidFill>
                <a:effectLst/>
              </a:rPr>
              <a:t>ã</a:t>
            </a:r>
            <a:r>
              <a:rPr lang="en-US" altLang="pt-BR" sz="4400">
                <a:solidFill>
                  <a:schemeClr val="bg1"/>
                </a:solidFill>
                <a:effectLst/>
              </a:rPr>
              <a:t>o Simples</a:t>
            </a:r>
            <a:endParaRPr lang="en-US" altLang="pt-BR" sz="4400">
              <a:solidFill>
                <a:schemeClr val="bg1"/>
              </a:solidFill>
              <a:effectLst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720215" y="1430655"/>
            <a:ext cx="3629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40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  <a:endParaRPr lang="pt-BR" altLang="en-US" sz="240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Automação </a:t>
            </a:r>
            <a:endParaRPr lang="pt-BR" altLang="en-US" sz="4000"/>
          </a:p>
        </p:txBody>
      </p:sp>
      <p:sp>
        <p:nvSpPr>
          <p:cNvPr id="5" name="Título 1"/>
          <p:cNvSpPr>
            <a:spLocks noGrp="1"/>
          </p:cNvSpPr>
          <p:nvPr/>
        </p:nvSpPr>
        <p:spPr>
          <a:xfrm>
            <a:off x="451485" y="1831340"/>
            <a:ext cx="5915025" cy="753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pt-BR" sz="2400" b="0"/>
              <a:t>Ganhe tempo com scripts.</a:t>
            </a:r>
            <a:endParaRPr lang="en-US" altLang="pt-BR" sz="2400" b="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56565" y="7198360"/>
            <a:ext cx="5915025" cy="76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/>
              <a:t>👉</a:t>
            </a:r>
            <a:r>
              <a:rPr lang="en-US" altLang="pt-BR" sz="2400"/>
              <a:t> </a:t>
            </a:r>
            <a:r>
              <a:rPr lang="pt-BR" altLang="en-US" sz="2400"/>
              <a:t> </a:t>
            </a:r>
            <a:r>
              <a:rPr lang="en-US" altLang="pt-BR" sz="2400" b="0"/>
              <a:t>Uso real: organiza</a:t>
            </a:r>
            <a:r>
              <a:rPr lang="" altLang="en-US" sz="2400" b="0"/>
              <a:t>ç</a:t>
            </a:r>
            <a:r>
              <a:rPr lang="en-US" altLang="en-US" sz="2400" b="0"/>
              <a:t>ã</a:t>
            </a:r>
            <a:r>
              <a:rPr lang="en-US" altLang="pt-BR" sz="2400" b="0"/>
              <a:t>o de arquivos, scripts internos.</a:t>
            </a:r>
            <a:endParaRPr lang="en-US" altLang="pt-BR" sz="24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" y="3747770"/>
            <a:ext cx="6381750" cy="2601595"/>
          </a:xfrm>
          <a:prstGeom prst="round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tângulo 6"/>
          <p:cNvSpPr/>
          <p:nvPr/>
        </p:nvSpPr>
        <p:spPr>
          <a:xfrm>
            <a:off x="-16510" y="-14605"/>
            <a:ext cx="6875145" cy="9947910"/>
          </a:xfrm>
          <a:prstGeom prst="rect">
            <a:avLst/>
          </a:prstGeom>
          <a:solidFill>
            <a:srgbClr val="1835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845820" y="5887720"/>
            <a:ext cx="55829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sz="4400">
                <a:solidFill>
                  <a:schemeClr val="bg1"/>
                </a:solidFill>
                <a:effectLst/>
              </a:rPr>
              <a:t>Agradecimentos</a:t>
            </a:r>
            <a:endParaRPr lang="pt-BR" sz="4400">
              <a:solidFill>
                <a:schemeClr val="bg1"/>
              </a:solidFill>
              <a:effectLst/>
            </a:endParaRPr>
          </a:p>
        </p:txBody>
      </p:sp>
      <p:cxnSp>
        <p:nvCxnSpPr>
          <p:cNvPr id="10" name="Conector Reto 9"/>
          <p:cNvCxnSpPr/>
          <p:nvPr/>
        </p:nvCxnSpPr>
        <p:spPr>
          <a:xfrm flipV="1">
            <a:off x="845820" y="7736840"/>
            <a:ext cx="5339715" cy="29845"/>
          </a:xfrm>
          <a:prstGeom prst="line">
            <a:avLst/>
          </a:prstGeom>
          <a:ln w="146050">
            <a:solidFill>
              <a:srgbClr val="9EEF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4490" y="637540"/>
            <a:ext cx="5915025" cy="614045"/>
          </a:xfrm>
        </p:spPr>
        <p:txBody>
          <a:bodyPr>
            <a:normAutofit fontScale="90000"/>
          </a:bodyPr>
          <a:p>
            <a:r>
              <a:rPr lang="pt-BR" altLang="en-US" sz="4000"/>
              <a:t>Agradecimentos</a:t>
            </a:r>
            <a:endParaRPr lang="pt-BR" altLang="en-US" sz="4000"/>
          </a:p>
        </p:txBody>
      </p:sp>
      <p:cxnSp>
        <p:nvCxnSpPr>
          <p:cNvPr id="3" name="Conector Reto 2"/>
          <p:cNvCxnSpPr/>
          <p:nvPr/>
        </p:nvCxnSpPr>
        <p:spPr>
          <a:xfrm flipH="1">
            <a:off x="335280" y="0"/>
            <a:ext cx="15240" cy="1064895"/>
          </a:xfrm>
          <a:prstGeom prst="line">
            <a:avLst/>
          </a:prstGeom>
          <a:ln w="171450">
            <a:solidFill>
              <a:srgbClr val="99E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ítulo 1"/>
          <p:cNvSpPr>
            <a:spLocks noGrp="1"/>
          </p:cNvSpPr>
          <p:nvPr/>
        </p:nvSpPr>
        <p:spPr>
          <a:xfrm>
            <a:off x="441325" y="1184275"/>
            <a:ext cx="5915025" cy="311848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1800" b="0"/>
              <a:t>🧪</a:t>
            </a:r>
            <a:r>
              <a:rPr lang="en-US" altLang="pt-BR" sz="1800" b="0"/>
              <a:t> </a:t>
            </a:r>
            <a:r>
              <a:rPr lang="pt-BR" altLang="en-US" sz="1800" b="0"/>
              <a:t> </a:t>
            </a:r>
            <a:r>
              <a:rPr lang="en-US" altLang="pt-BR" sz="1800"/>
              <a:t>O Que Voc</a:t>
            </a:r>
            <a:r>
              <a:rPr lang="en-US" altLang="en-US" sz="1800"/>
              <a:t>ê</a:t>
            </a:r>
            <a:r>
              <a:rPr lang="en-US" altLang="pt-BR" sz="1800"/>
              <a:t> Conquistou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Ao longo deste material, voc</a:t>
            </a:r>
            <a:r>
              <a:rPr lang="en-US" altLang="en-US" sz="1800" b="0"/>
              <a:t>ê</a:t>
            </a:r>
            <a:r>
              <a:rPr lang="en-US" altLang="pt-BR" sz="1800" b="0"/>
              <a:t> aprendeu a: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Estruturar seu pensamento l</a:t>
            </a:r>
            <a:r>
              <a:rPr lang="en-US" altLang="en-US" sz="1800" b="0"/>
              <a:t>ó</a:t>
            </a:r>
            <a:r>
              <a:rPr lang="en-US" altLang="pt-BR" sz="1800" b="0"/>
              <a:t>gico</a:t>
            </a:r>
            <a:endParaRPr lang="en-US" altLang="pt-BR" sz="1800" b="0"/>
          </a:p>
          <a:p>
            <a:r>
              <a:rPr lang="en-US" altLang="pt-BR" sz="1800" b="0"/>
              <a:t>Escrever c</a:t>
            </a:r>
            <a:r>
              <a:rPr lang="en-US" altLang="en-US" sz="1800" b="0"/>
              <a:t>ó</a:t>
            </a:r>
            <a:r>
              <a:rPr lang="en-US" altLang="pt-BR" sz="1800" b="0"/>
              <a:t>digo limpo e funcional</a:t>
            </a:r>
            <a:endParaRPr lang="en-US" altLang="pt-BR" sz="1800" b="0"/>
          </a:p>
          <a:p>
            <a:r>
              <a:rPr lang="en-US" altLang="pt-BR" sz="1800" b="0"/>
              <a:t>Resolver problemas reais com Python</a:t>
            </a:r>
            <a:endParaRPr lang="en-US" altLang="pt-BR" sz="1800" b="0"/>
          </a:p>
          <a:p>
            <a:r>
              <a:rPr lang="en-US" altLang="pt-BR" sz="1800" b="0"/>
              <a:t>Dar os primeiros passos rumo a automa</a:t>
            </a:r>
            <a:r>
              <a:rPr lang="" altLang="en-US" sz="1800" b="0"/>
              <a:t>ç</a:t>
            </a:r>
            <a:r>
              <a:rPr lang="en-US" altLang="en-US" sz="1800" b="0"/>
              <a:t>ã</a:t>
            </a:r>
            <a:r>
              <a:rPr lang="en-US" altLang="pt-BR" sz="1800" b="0"/>
              <a:t>o e sistemas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Isso j</a:t>
            </a:r>
            <a:r>
              <a:rPr lang="en-US" altLang="en-US" sz="1800" b="0"/>
              <a:t>á</a:t>
            </a:r>
            <a:r>
              <a:rPr lang="en-US" altLang="pt-BR" sz="1800" b="0"/>
              <a:t> te coloca à frente de muita gente.</a:t>
            </a:r>
            <a:endParaRPr lang="en-US" altLang="pt-BR" sz="1800" b="0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HeisenCode: A Química do Python Perfeito</a:t>
            </a:r>
            <a:endParaRPr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8" name="Título 1"/>
          <p:cNvSpPr>
            <a:spLocks noGrp="1"/>
          </p:cNvSpPr>
          <p:nvPr/>
        </p:nvSpPr>
        <p:spPr>
          <a:xfrm>
            <a:off x="431165" y="4302760"/>
            <a:ext cx="5915025" cy="1831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1800" b="0"/>
              <a:t>🧠</a:t>
            </a:r>
            <a:r>
              <a:rPr lang="en-US" altLang="pt-BR" sz="1800" b="0"/>
              <a:t> </a:t>
            </a:r>
            <a:r>
              <a:rPr lang="pt-BR" altLang="en-US" sz="1800" b="0"/>
              <a:t> </a:t>
            </a:r>
            <a:r>
              <a:rPr lang="en-US" altLang="pt-BR" sz="1800"/>
              <a:t>Mentalidade HeisenCode</a:t>
            </a:r>
            <a:endParaRPr lang="en-US" altLang="pt-BR" sz="1800"/>
          </a:p>
          <a:p>
            <a:endParaRPr lang="en-US" altLang="pt-BR" sz="1800" b="0"/>
          </a:p>
          <a:p>
            <a:r>
              <a:rPr lang="en-US" altLang="pt-BR" sz="1800" b="0"/>
              <a:t>N</a:t>
            </a:r>
            <a:r>
              <a:rPr lang="en-US" altLang="en-US" sz="1800" b="0"/>
              <a:t>ã</a:t>
            </a:r>
            <a:r>
              <a:rPr lang="en-US" altLang="pt-BR" sz="1800" b="0"/>
              <a:t>o busque perfei</a:t>
            </a:r>
            <a:r>
              <a:rPr lang="" altLang="en-US" sz="1800" b="0"/>
              <a:t>ç</a:t>
            </a:r>
            <a:r>
              <a:rPr lang="en-US" altLang="en-US" sz="1800" b="0"/>
              <a:t>ã</a:t>
            </a:r>
            <a:r>
              <a:rPr lang="en-US" altLang="pt-BR" sz="1800" b="0"/>
              <a:t>o no in</a:t>
            </a:r>
            <a:r>
              <a:rPr lang="en-US" altLang="en-US" sz="1800" b="0"/>
              <a:t>í</a:t>
            </a:r>
            <a:r>
              <a:rPr lang="en-US" altLang="pt-BR" sz="1800" b="0"/>
              <a:t>cio. Busque progresso.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C</a:t>
            </a:r>
            <a:r>
              <a:rPr lang="en-US" altLang="en-US" sz="1800" b="0"/>
              <a:t>ó</a:t>
            </a:r>
            <a:r>
              <a:rPr lang="en-US" altLang="pt-BR" sz="1800" b="0"/>
              <a:t>digo ruim hoje &gt; c</a:t>
            </a:r>
            <a:r>
              <a:rPr lang="en-US" altLang="en-US" sz="1800" b="0"/>
              <a:t>ó</a:t>
            </a:r>
            <a:r>
              <a:rPr lang="en-US" altLang="pt-BR" sz="1800" b="0"/>
              <a:t>digo perfeito que nunca foi escrito</a:t>
            </a:r>
            <a:endParaRPr lang="en-US" altLang="pt-BR" sz="1800" b="0"/>
          </a:p>
          <a:p>
            <a:r>
              <a:rPr lang="en-US" altLang="pt-BR" sz="1800" b="0"/>
              <a:t>Pequenas evolu</a:t>
            </a:r>
            <a:r>
              <a:rPr lang="" altLang="en-US" sz="1800" b="0"/>
              <a:t>çõ</a:t>
            </a:r>
            <a:r>
              <a:rPr lang="en-US" altLang="pt-BR" sz="1800" b="0"/>
              <a:t>es &gt; grandes ideias paradas</a:t>
            </a:r>
            <a:endParaRPr lang="en-US" altLang="pt-BR" sz="1800" b="0"/>
          </a:p>
          <a:p>
            <a:r>
              <a:rPr lang="en-US" altLang="pt-BR" sz="1800" b="0"/>
              <a:t>Consist</a:t>
            </a:r>
            <a:r>
              <a:rPr lang="en-US" altLang="en-US" sz="1800" b="0"/>
              <a:t>ê</a:t>
            </a:r>
            <a:r>
              <a:rPr lang="en-US" altLang="pt-BR" sz="1800" b="0"/>
              <a:t>ncia &gt; motiva</a:t>
            </a:r>
            <a:r>
              <a:rPr lang="" altLang="en-US" sz="1800" b="0"/>
              <a:t>ç</a:t>
            </a:r>
            <a:r>
              <a:rPr lang="en-US" altLang="en-US" sz="1800" b="0"/>
              <a:t>ã</a:t>
            </a:r>
            <a:r>
              <a:rPr lang="en-US" altLang="pt-BR" sz="1800" b="0"/>
              <a:t>o</a:t>
            </a:r>
            <a:endParaRPr lang="en-US" altLang="pt-BR" sz="1800" b="0"/>
          </a:p>
        </p:txBody>
      </p:sp>
      <p:sp>
        <p:nvSpPr>
          <p:cNvPr id="10" name="Título 1"/>
          <p:cNvSpPr>
            <a:spLocks noGrp="1"/>
          </p:cNvSpPr>
          <p:nvPr/>
        </p:nvSpPr>
        <p:spPr>
          <a:xfrm>
            <a:off x="431165" y="6485255"/>
            <a:ext cx="5915025" cy="238188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1800" b="0"/>
              <a:t>🚀</a:t>
            </a:r>
            <a:r>
              <a:rPr lang="en-US" altLang="pt-BR" sz="1800" b="0"/>
              <a:t> </a:t>
            </a:r>
            <a:r>
              <a:rPr lang="pt-BR" altLang="en-US" sz="1800"/>
              <a:t> </a:t>
            </a:r>
            <a:r>
              <a:rPr lang="en-US" altLang="pt-BR" sz="1800"/>
              <a:t>Obrigado por Fazer Parte Disso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Obrigado por dedicar seu tempo a evoluir.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Esse </a:t>
            </a:r>
            <a:r>
              <a:rPr lang="en-US" altLang="en-US" sz="1800" b="0"/>
              <a:t>é</a:t>
            </a:r>
            <a:r>
              <a:rPr lang="en-US" altLang="pt-BR" sz="1800" b="0"/>
              <a:t> s</a:t>
            </a:r>
            <a:r>
              <a:rPr lang="en-US" altLang="en-US" sz="1800" b="0"/>
              <a:t>ó</a:t>
            </a:r>
            <a:r>
              <a:rPr lang="en-US" altLang="pt-BR" sz="1800" b="0"/>
              <a:t> o come</a:t>
            </a:r>
            <a:r>
              <a:rPr lang="" altLang="en-US" sz="1800" b="0"/>
              <a:t>ç</a:t>
            </a:r>
            <a:r>
              <a:rPr lang="en-US" altLang="pt-BR" sz="1800" b="0"/>
              <a:t>o da sua jornada com Python.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en-US" altLang="pt-BR" sz="1800" b="0"/>
              <a:t>E lembre-se:</a:t>
            </a:r>
            <a:endParaRPr lang="en-US" altLang="pt-BR" sz="1800" b="0"/>
          </a:p>
          <a:p>
            <a:endParaRPr lang="en-US" altLang="pt-BR" sz="1800" b="0"/>
          </a:p>
          <a:p>
            <a:r>
              <a:rPr lang="zh-CN" altLang="en-US" sz="1800" b="0"/>
              <a:t>👉</a:t>
            </a:r>
            <a:r>
              <a:rPr lang="en-US" altLang="pt-BR" sz="1800" b="0"/>
              <a:t> </a:t>
            </a:r>
            <a:r>
              <a:rPr lang="pt-BR" altLang="en-US" sz="1800"/>
              <a:t> </a:t>
            </a:r>
            <a:r>
              <a:rPr lang="en-US" altLang="pt-BR" sz="1800"/>
              <a:t>Quem domina o c</a:t>
            </a:r>
            <a:r>
              <a:rPr lang="en-US" altLang="en-US" sz="1800"/>
              <a:t>ó</a:t>
            </a:r>
            <a:r>
              <a:rPr lang="en-US" altLang="pt-BR" sz="1800"/>
              <a:t>digo, domina o jogo.</a:t>
            </a:r>
            <a:endParaRPr lang="en-US" altLang="pt-BR" sz="1800"/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2072640" y="4247515"/>
            <a:ext cx="2513965" cy="1270"/>
          </a:xfrm>
          <a:prstGeom prst="line">
            <a:avLst/>
          </a:prstGeom>
          <a:ln w="57150">
            <a:solidFill>
              <a:srgbClr val="9EEF4B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ítulo 1"/>
          <p:cNvSpPr>
            <a:spLocks noGrp="1"/>
          </p:cNvSpPr>
          <p:nvPr/>
        </p:nvSpPr>
        <p:spPr>
          <a:xfrm>
            <a:off x="5053965" y="8702675"/>
            <a:ext cx="1729105" cy="5505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endParaRPr lang="en-US" altLang="pt-BR" sz="1800" b="0"/>
          </a:p>
          <a:p>
            <a:r>
              <a:rPr lang="pt-BR" altLang="en-US" sz="1600"/>
              <a:t>* Feito por IA</a:t>
            </a:r>
            <a:r>
              <a:rPr lang="en-US" altLang="pt-BR" sz="1600"/>
              <a:t>.</a:t>
            </a:r>
            <a:endParaRPr lang="en-US" altLang="pt-BR" sz="1600"/>
          </a:p>
        </p:txBody>
      </p:sp>
      <p:cxnSp>
        <p:nvCxnSpPr>
          <p:cNvPr id="16" name="Conector Reto 15"/>
          <p:cNvCxnSpPr/>
          <p:nvPr/>
        </p:nvCxnSpPr>
        <p:spPr>
          <a:xfrm flipV="1">
            <a:off x="2072640" y="6406515"/>
            <a:ext cx="2513965" cy="1270"/>
          </a:xfrm>
          <a:prstGeom prst="line">
            <a:avLst/>
          </a:prstGeom>
          <a:ln w="57150">
            <a:solidFill>
              <a:srgbClr val="9EEF4B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2904</Words>
  <Application>WPS Presentation</Application>
  <PresentationFormat>宽屏</PresentationFormat>
  <Paragraphs>228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1_Office Theme</vt:lpstr>
      <vt:lpstr>PowerPoint 演示文稿</vt:lpstr>
      <vt:lpstr>Lorem ipsum dlotr sit amet</vt:lpstr>
      <vt:lpstr>Lorem ipsum dlotr sit amet</vt:lpstr>
      <vt:lpstr>PowerPoint 演示文稿</vt:lpstr>
      <vt:lpstr>Variáveis</vt:lpstr>
      <vt:lpstr>PowerPoint 演示文稿</vt:lpstr>
      <vt:lpstr>Condicionais</vt:lpstr>
      <vt:lpstr>PowerPoint 演示文稿</vt:lpstr>
      <vt:lpstr>Loops</vt:lpstr>
      <vt:lpstr>PowerPoint 演示文稿</vt:lpstr>
      <vt:lpstr>Listas</vt:lpstr>
      <vt:lpstr>PowerPoint 演示文稿</vt:lpstr>
      <vt:lpstr>Dicionários</vt:lpstr>
      <vt:lpstr>PowerPoint 演示文稿</vt:lpstr>
      <vt:lpstr>Dicionários</vt:lpstr>
      <vt:lpstr>PowerPoint 演示文稿</vt:lpstr>
      <vt:lpstr>Tratamento de erros</vt:lpstr>
      <vt:lpstr>PowerPoint 演示文稿</vt:lpstr>
      <vt:lpstr>Manipulação de arquivos</vt:lpstr>
      <vt:lpstr>PowerPoint 演示文稿</vt:lpstr>
      <vt:lpstr>Consumo de APIs</vt:lpstr>
      <vt:lpstr>PowerPoint 演示文稿</vt:lpstr>
      <vt:lpstr>Automação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rafae</dc:creator>
  <cp:lastModifiedBy>rafae</cp:lastModifiedBy>
  <cp:revision>18</cp:revision>
  <dcterms:created xsi:type="dcterms:W3CDTF">2025-07-23T00:59:00Z</dcterms:created>
  <dcterms:modified xsi:type="dcterms:W3CDTF">2026-03-24T02:02:13Z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1046-12.2.0.23196</vt:lpwstr>
  </property>
  <property fmtid="{D5CDD505-2E9C-101B-9397-08002B2CF9AE}" pid="3" name="ICV">
    <vt:lpwstr>73C6FC0EAF28464F996FD1C6598F0699_11</vt:lpwstr>
  </property>
</Properties>
</file>